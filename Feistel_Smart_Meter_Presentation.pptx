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FC5ED6-153C-4E51-8AB2-375CD11320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A4923C-692D-49A5-B3B0-B60DD3660E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C379D076-EB4A-4DC2-8813-DE71B9B15B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468000" cy="685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64000" y="774000"/>
            <a:ext cx="792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2E7D78"/>
                </a:solidFill>
                <a:effectLst/>
                <a:uFillTx/>
                <a:latin typeface="Nimbus Sans"/>
              </a:rPr>
              <a:t>MODERN CRYPTOGRAPHY · MINI PROJECT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64000" y="1242000"/>
            <a:ext cx="10008000" cy="118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30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Lightweight Feistel-Based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30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Smart Meter Encryption Suite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" name=""/>
          <p:cNvSpPr/>
          <p:nvPr/>
        </p:nvSpPr>
        <p:spPr>
          <a:xfrm>
            <a:off x="864000" y="2592000"/>
            <a:ext cx="900000" cy="468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1800" rIns="90000" bIns="18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64000" y="2826000"/>
            <a:ext cx="9720000" cy="34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6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Problem analysis, feasibility, methodology and algorithm relevance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64000" y="5274000"/>
            <a:ext cx="9720000" cy="2415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Smart-grid security · Symmetric-key cryptography · Web simulation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64000" y="5760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5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Academic Year: 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PROJECT INFORMATION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Project and Team Details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" name=""/>
          <p:cNvSpPr/>
          <p:nvPr/>
        </p:nvSpPr>
        <p:spPr>
          <a:xfrm>
            <a:off x="540000" y="1512000"/>
            <a:ext cx="5220000" cy="828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" name=""/>
          <p:cNvSpPr/>
          <p:nvPr/>
        </p:nvSpPr>
        <p:spPr>
          <a:xfrm>
            <a:off x="540000" y="1512000"/>
            <a:ext cx="64800" cy="82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20000" y="1620000"/>
            <a:ext cx="4914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20000" y="1890000"/>
            <a:ext cx="4914000" cy="37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Lightweight Feistel-Based Smart Meter Encryption Suite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" name=""/>
          <p:cNvSpPr/>
          <p:nvPr/>
        </p:nvSpPr>
        <p:spPr>
          <a:xfrm>
            <a:off x="6228000" y="1512000"/>
            <a:ext cx="5400000" cy="828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" name=""/>
          <p:cNvSpPr/>
          <p:nvPr/>
        </p:nvSpPr>
        <p:spPr>
          <a:xfrm>
            <a:off x="6228000" y="1512000"/>
            <a:ext cx="64800" cy="828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408000" y="1620000"/>
            <a:ext cx="5094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Course / Subject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408000" y="1890000"/>
            <a:ext cx="5094000" cy="539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Modern Cryptography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Programme: ____________________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Section: ______________________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40000" y="2664000"/>
            <a:ext cx="3240000" cy="2415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TEAM MEMBERS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40000" y="2952000"/>
            <a:ext cx="648000" cy="270000"/>
          </a:xfrm>
          <a:prstGeom prst="rect">
            <a:avLst/>
          </a:prstGeom>
          <a:solidFill>
            <a:srgbClr val="183B56"/>
          </a:solidFill>
          <a:ln w="0">
            <a:solidFill>
              <a:srgbClr val="FFFFFF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No.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188000" y="2952000"/>
            <a:ext cx="2952000" cy="270000"/>
          </a:xfrm>
          <a:prstGeom prst="rect">
            <a:avLst/>
          </a:prstGeom>
          <a:solidFill>
            <a:srgbClr val="183B56"/>
          </a:solidFill>
          <a:ln w="0">
            <a:solidFill>
              <a:srgbClr val="FFFFFF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Name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140000" y="2952000"/>
            <a:ext cx="3528000" cy="270000"/>
          </a:xfrm>
          <a:prstGeom prst="rect">
            <a:avLst/>
          </a:prstGeom>
          <a:solidFill>
            <a:srgbClr val="183B56"/>
          </a:solidFill>
          <a:ln w="0">
            <a:solidFill>
              <a:srgbClr val="FFFFFF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Enrollment No.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668000" y="2952000"/>
            <a:ext cx="3960000" cy="270000"/>
          </a:xfrm>
          <a:prstGeom prst="rect">
            <a:avLst/>
          </a:prstGeom>
          <a:solidFill>
            <a:srgbClr val="183B56"/>
          </a:solidFill>
          <a:ln w="0">
            <a:solidFill>
              <a:srgbClr val="FFFFFF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Primary Module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40000" y="3222000"/>
            <a:ext cx="64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88000" y="3222000"/>
            <a:ext cx="2952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140000" y="3222000"/>
            <a:ext cx="352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668000" y="3222000"/>
            <a:ext cx="3960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40000" y="3672000"/>
            <a:ext cx="64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88000" y="3672000"/>
            <a:ext cx="2952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140000" y="3672000"/>
            <a:ext cx="352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668000" y="3672000"/>
            <a:ext cx="3960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40000" y="4122000"/>
            <a:ext cx="64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88000" y="4122000"/>
            <a:ext cx="2952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140000" y="4122000"/>
            <a:ext cx="352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668000" y="4122000"/>
            <a:ext cx="3960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" y="4572000"/>
            <a:ext cx="64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88000" y="4572000"/>
            <a:ext cx="2952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140000" y="4572000"/>
            <a:ext cx="352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668000" y="4572000"/>
            <a:ext cx="3960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0000" y="5022000"/>
            <a:ext cx="64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88000" y="5022000"/>
            <a:ext cx="2952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140000" y="5022000"/>
            <a:ext cx="3528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668000" y="5022000"/>
            <a:ext cx="3960000" cy="378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50400" tIns="50400" rIns="50400" bIns="50400" anchor="b">
            <a:spAutoFit/>
          </a:bodyPr>
          <a:p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________________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PROBLEM DOMAIN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Why Smart-Meter Telemetry Needs Protection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0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40000" y="1458000"/>
            <a:ext cx="10980000" cy="4575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Residential meters send small, frequent usage reports to a utility gateway. These readings affect billing and can also reveal household activity patterns.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3" name=""/>
          <p:cNvSpPr/>
          <p:nvPr/>
        </p:nvSpPr>
        <p:spPr>
          <a:xfrm>
            <a:off x="612000" y="2340000"/>
            <a:ext cx="2052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8000" y="2448000"/>
            <a:ext cx="324000" cy="22752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38000" y="2718000"/>
            <a:ext cx="1692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Meter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38000" y="3006000"/>
            <a:ext cx="1692000" cy="3819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Measures energy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usage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7" name=""/>
          <p:cNvSpPr/>
          <p:nvPr/>
        </p:nvSpPr>
        <p:spPr>
          <a:xfrm>
            <a:off x="2718000" y="2880000"/>
            <a:ext cx="45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8" name=""/>
          <p:cNvSpPr/>
          <p:nvPr/>
        </p:nvSpPr>
        <p:spPr>
          <a:xfrm>
            <a:off x="3330000" y="2340000"/>
            <a:ext cx="2052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456000" y="2448000"/>
            <a:ext cx="324000" cy="22752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456000" y="2718000"/>
            <a:ext cx="1692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Network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456000" y="3006000"/>
            <a:ext cx="1692000" cy="3819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Carries periodic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telemetry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2" name=""/>
          <p:cNvSpPr/>
          <p:nvPr/>
        </p:nvSpPr>
        <p:spPr>
          <a:xfrm>
            <a:off x="5436000" y="2880000"/>
            <a:ext cx="45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3" name=""/>
          <p:cNvSpPr/>
          <p:nvPr/>
        </p:nvSpPr>
        <p:spPr>
          <a:xfrm>
            <a:off x="6048000" y="2340000"/>
            <a:ext cx="2052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174000" y="2448000"/>
            <a:ext cx="324000" cy="22752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174000" y="2718000"/>
            <a:ext cx="1692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Gateway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174000" y="3006000"/>
            <a:ext cx="1692000" cy="3819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Validates and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decrypts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7" name=""/>
          <p:cNvSpPr/>
          <p:nvPr/>
        </p:nvSpPr>
        <p:spPr>
          <a:xfrm>
            <a:off x="8154000" y="2880000"/>
            <a:ext cx="45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8" name=""/>
          <p:cNvSpPr/>
          <p:nvPr/>
        </p:nvSpPr>
        <p:spPr>
          <a:xfrm>
            <a:off x="8766000" y="2340000"/>
            <a:ext cx="2052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892000" y="2448000"/>
            <a:ext cx="324000" cy="22752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892000" y="2718000"/>
            <a:ext cx="1692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Utility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892000" y="3006000"/>
            <a:ext cx="1692000" cy="3819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Stores data for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r>
              <a:rPr lang="en-US" sz="11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billing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2" name=""/>
          <p:cNvSpPr/>
          <p:nvPr/>
        </p:nvSpPr>
        <p:spPr>
          <a:xfrm>
            <a:off x="540000" y="4032000"/>
            <a:ext cx="5292000" cy="1116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3" name=""/>
          <p:cNvSpPr/>
          <p:nvPr/>
        </p:nvSpPr>
        <p:spPr>
          <a:xfrm>
            <a:off x="540000" y="4032000"/>
            <a:ext cx="64800" cy="1116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20000" y="4140000"/>
            <a:ext cx="498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Security issue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20000" y="4410000"/>
            <a:ext cx="4986000" cy="666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If the link is observed or modified, an attacker may infer behaviour, alter readings or replay an old report.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6" name=""/>
          <p:cNvSpPr/>
          <p:nvPr/>
        </p:nvSpPr>
        <p:spPr>
          <a:xfrm>
            <a:off x="6336000" y="4032000"/>
            <a:ext cx="5292000" cy="1116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7" name=""/>
          <p:cNvSpPr/>
          <p:nvPr/>
        </p:nvSpPr>
        <p:spPr>
          <a:xfrm>
            <a:off x="6336000" y="4032000"/>
            <a:ext cx="64800" cy="1116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516000" y="4140000"/>
            <a:ext cx="498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Engineering issue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516000" y="4410000"/>
            <a:ext cx="4986000" cy="666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The meter has limited memory, processing capacity and energy. Protection must therefore be measurable as well as correct.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PROBLEM DOMAIN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Problem Definition and Study Boundaries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3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5" name=""/>
          <p:cNvSpPr/>
          <p:nvPr/>
        </p:nvSpPr>
        <p:spPr>
          <a:xfrm>
            <a:off x="540000" y="1476000"/>
            <a:ext cx="11088000" cy="864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6" name=""/>
          <p:cNvSpPr/>
          <p:nvPr/>
        </p:nvSpPr>
        <p:spPr>
          <a:xfrm>
            <a:off x="540000" y="1476000"/>
            <a:ext cx="64800" cy="864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20000" y="1584000"/>
            <a:ext cx="10782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Core problem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20000" y="1854000"/>
            <a:ext cx="10782000" cy="4302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Design an understandable 8-bit Feistel cipher for a constrained smart-meter model, then measure how its cost and diffusion change with the number of rounds.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9" name=""/>
          <p:cNvSpPr/>
          <p:nvPr/>
        </p:nvSpPr>
        <p:spPr>
          <a:xfrm>
            <a:off x="540000" y="2682000"/>
            <a:ext cx="3348000" cy="162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02000" y="2808000"/>
            <a:ext cx="46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Q1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02000" y="3186000"/>
            <a:ext cx="2988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Correctness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02000" y="3528000"/>
            <a:ext cx="2988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Can every 8-bit reading be encrypted and recovered with the same key?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3" name=""/>
          <p:cNvSpPr/>
          <p:nvPr/>
        </p:nvSpPr>
        <p:spPr>
          <a:xfrm>
            <a:off x="4266000" y="2682000"/>
            <a:ext cx="3348000" cy="162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428000" y="2808000"/>
            <a:ext cx="46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Q2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428000" y="3186000"/>
            <a:ext cx="2988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Diffusion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428000" y="3528000"/>
            <a:ext cx="2988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How close does the output come to changing four of eight bits after one input-bit flip?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992000" y="2682000"/>
            <a:ext cx="3348000" cy="162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154000" y="2808000"/>
            <a:ext cx="46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Q3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154000" y="3186000"/>
            <a:ext cx="2988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Cost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154000" y="3528000"/>
            <a:ext cx="2988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What time and estimated energy are required by 4, 6 and 8 rounds?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40000" y="4770000"/>
            <a:ext cx="1512000" cy="2415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Scope boundary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40000" y="5004000"/>
            <a:ext cx="11088000" cy="5760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126000" tIns="126000" rIns="126000" bIns="126000" anchor="t">
            <a:spAutoFit/>
          </a:bodyPr>
          <a:p>
            <a:r>
              <a:rPr lang="en-US" sz="12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This is a teaching and evaluation model. An 8-bit block and a short key are not suitable for real billing security; production meters should use standard authenticated encryption.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EXISTING SYSTEMS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Where the Proposed Cipher Fits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40000" y="1440000"/>
            <a:ext cx="10800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Existing approaches provide the baseline for the project; they are not treated as direct equivalents.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40000" y="1872000"/>
            <a:ext cx="3168000" cy="594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Approach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708000" y="1872000"/>
            <a:ext cx="3528000" cy="594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Strength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236000" y="1872000"/>
            <a:ext cx="4392000" cy="594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Limitation in this study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40000" y="2556000"/>
            <a:ext cx="316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Unencrypted / checksum only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708000" y="2556000"/>
            <a:ext cx="352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Very low processing cost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236000" y="2556000"/>
            <a:ext cx="4392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No confidentiality; checksum is not authentication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40000" y="3240000"/>
            <a:ext cx="316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708000" y="3240000"/>
            <a:ext cx="352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Classic Feistel reference with 16 rounds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236000" y="3240000"/>
            <a:ext cx="4392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56-bit key is obsolete; 64-bit implementation is larger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40000" y="3924000"/>
            <a:ext cx="316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AES-128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708000" y="3924000"/>
            <a:ext cx="352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Modern standard; strong and widely supported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236000" y="3924000"/>
            <a:ext cx="4392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More complex than an 8-bit teaching model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40000" y="4608000"/>
            <a:ext cx="316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Lightweight standard ciphers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708000" y="4608000"/>
            <a:ext cx="3528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Designed for constrained devices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236000" y="4608000"/>
            <a:ext cx="4392000" cy="594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Less transparent for a short classroom implementation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40000" y="5292000"/>
            <a:ext cx="3168000" cy="594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Proposed 8-bit Feistel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708000" y="5292000"/>
            <a:ext cx="3528000" cy="594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Small, traceable and easy to benchmark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236000" y="5292000"/>
            <a:ext cx="4392000" cy="594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82800" tIns="82800" rIns="82800" bIns="82800" anchor="b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Tiny block/key space; demonstration only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0000" y="6084000"/>
            <a:ext cx="8640000" cy="20952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85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Reference baseline: DES structure (FIPS 46-3) and AES (FIPS 197).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EXISTING SYSTEMS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Project Feasibility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1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3" name=""/>
          <p:cNvSpPr/>
          <p:nvPr/>
        </p:nvSpPr>
        <p:spPr>
          <a:xfrm>
            <a:off x="540000" y="1548000"/>
            <a:ext cx="5292000" cy="1440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4" name=""/>
          <p:cNvSpPr/>
          <p:nvPr/>
        </p:nvSpPr>
        <p:spPr>
          <a:xfrm>
            <a:off x="540000" y="1548000"/>
            <a:ext cx="64800" cy="1440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20000" y="1656000"/>
            <a:ext cx="4986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Technical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20000" y="1926000"/>
            <a:ext cx="4986000" cy="99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Python supports direct bit operations. FastAPI exposes the simulation, while browser charts show internal states and results.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7" name=""/>
          <p:cNvSpPr/>
          <p:nvPr/>
        </p:nvSpPr>
        <p:spPr>
          <a:xfrm>
            <a:off x="6156000" y="1548000"/>
            <a:ext cx="5292000" cy="1440000"/>
          </a:xfrm>
          <a:prstGeom prst="roundRect">
            <a:avLst/>
          </a:prstGeom>
          <a:solidFill>
            <a:srgbClr val="EAF0F3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8" name=""/>
          <p:cNvSpPr/>
          <p:nvPr/>
        </p:nvSpPr>
        <p:spPr>
          <a:xfrm>
            <a:off x="6156000" y="1548000"/>
            <a:ext cx="64800" cy="1440000"/>
          </a:xfrm>
          <a:prstGeom prst="rect">
            <a:avLst/>
          </a:prstGeom>
          <a:solidFill>
            <a:srgbClr val="2E668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336000" y="1656000"/>
            <a:ext cx="4986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Computational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336000" y="1926000"/>
            <a:ext cx="4986000" cy="99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The complete input space has only 256 blocks, so exhaustive correctness tests and large avalanche samples are practical.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1" name=""/>
          <p:cNvSpPr/>
          <p:nvPr/>
        </p:nvSpPr>
        <p:spPr>
          <a:xfrm>
            <a:off x="540000" y="3384000"/>
            <a:ext cx="5292000" cy="1440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2" name=""/>
          <p:cNvSpPr/>
          <p:nvPr/>
        </p:nvSpPr>
        <p:spPr>
          <a:xfrm>
            <a:off x="540000" y="3384000"/>
            <a:ext cx="64800" cy="1440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20000" y="3492000"/>
            <a:ext cx="4986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Hardware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20000" y="3762000"/>
            <a:ext cx="4986000" cy="99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The first version uses a documented energy model. C, Wokwi or Arduino measurement can be added without changing the cipher design.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5" name=""/>
          <p:cNvSpPr/>
          <p:nvPr/>
        </p:nvSpPr>
        <p:spPr>
          <a:xfrm>
            <a:off x="6156000" y="3384000"/>
            <a:ext cx="5292000" cy="144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6" name=""/>
          <p:cNvSpPr/>
          <p:nvPr/>
        </p:nvSpPr>
        <p:spPr>
          <a:xfrm>
            <a:off x="6156000" y="3384000"/>
            <a:ext cx="64800" cy="1440000"/>
          </a:xfrm>
          <a:prstGeom prst="rect">
            <a:avLst/>
          </a:prstGeom>
          <a:solidFill>
            <a:srgbClr val="183B5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336000" y="3492000"/>
            <a:ext cx="4986000" cy="2916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5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Schedule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36000" y="3762000"/>
            <a:ext cx="4986000" cy="99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Modules are independent enough for five members to work in parallel, with shared test vectors used during integration.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40000" y="5256000"/>
            <a:ext cx="1080000" cy="2415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Main risks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692000" y="5212800"/>
            <a:ext cx="2160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Unfair timing comparison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996000" y="5212800"/>
            <a:ext cx="298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Confusing estimates with measurements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128000" y="5212800"/>
            <a:ext cx="1980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Overstating security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9252000" y="5212800"/>
            <a:ext cx="2016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Integration mismatch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40000" y="5706000"/>
            <a:ext cx="11088000" cy="362520"/>
          </a:xfrm>
          <a:prstGeom prst="rect">
            <a:avLst/>
          </a:prstGeom>
          <a:solidFill>
            <a:srgbClr val="EAF0F3"/>
          </a:solidFill>
          <a:ln w="0">
            <a:solidFill>
              <a:srgbClr val="EAF0F3"/>
            </a:solidFill>
          </a:ln>
        </p:spPr>
        <p:txBody>
          <a:bodyPr lIns="108000" tIns="108000" rIns="108000" bIns="108000" anchor="t">
            <a:spAutoFit/>
          </a:bodyPr>
          <a:p>
            <a:r>
              <a:rPr lang="en-US" sz="115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Control: identical test vectors, repeated timing runs, labelled estimates and explicit limitations.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PROPOSED 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Objectives and Expected Outputs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8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0" name=""/>
          <p:cNvSpPr/>
          <p:nvPr/>
        </p:nvSpPr>
        <p:spPr>
          <a:xfrm>
            <a:off x="540000" y="1548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84000" y="1674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84000" y="2016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Build the cipher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84000" y="2376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Implement 8-bit encryption, decryption and a configurable 4/6/8-round engine.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4" name=""/>
          <p:cNvSpPr/>
          <p:nvPr/>
        </p:nvSpPr>
        <p:spPr>
          <a:xfrm>
            <a:off x="4266000" y="1548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410000" y="1674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410000" y="2016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Simulate meter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410000" y="2376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Generate time-based kWh readings, quantize them and construct transmission packets.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8" name=""/>
          <p:cNvSpPr/>
          <p:nvPr/>
        </p:nvSpPr>
        <p:spPr>
          <a:xfrm>
            <a:off x="7992000" y="1548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136000" y="1674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136000" y="2016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Make it observable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136000" y="2376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Display plaintext, subkeys and left/right values for every round in the web UI.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2" name=""/>
          <p:cNvSpPr/>
          <p:nvPr/>
        </p:nvSpPr>
        <p:spPr>
          <a:xfrm>
            <a:off x="540000" y="3672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84000" y="3798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84000" y="4140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Evaluate diffusion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84000" y="4500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Measure plaintext avalanche, key sensitivity and output-bit dependencies.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6" name=""/>
          <p:cNvSpPr/>
          <p:nvPr/>
        </p:nvSpPr>
        <p:spPr>
          <a:xfrm>
            <a:off x="4266000" y="3672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410000" y="3798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410000" y="4140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Measure cost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410000" y="4500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Report repeatable execution-time and estimated energy results for each round count.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0" name=""/>
          <p:cNvSpPr/>
          <p:nvPr/>
        </p:nvSpPr>
        <p:spPr>
          <a:xfrm>
            <a:off x="7992000" y="3672000"/>
            <a:ext cx="3348000" cy="16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136000" y="3798000"/>
            <a:ext cx="432000" cy="2534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2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136000" y="4140000"/>
            <a:ext cx="295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Demonstrate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136000" y="4500000"/>
            <a:ext cx="2952000" cy="61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2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Show sequence validation, replay rejection and integrity checking around the cipher.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PROPOSED 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Methodology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7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9" name=""/>
          <p:cNvSpPr/>
          <p:nvPr/>
        </p:nvSpPr>
        <p:spPr>
          <a:xfrm>
            <a:off x="540000" y="1638000"/>
            <a:ext cx="1512000" cy="1872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72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48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Specify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66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Block, key, S-box, permutation and output convention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3" name=""/>
          <p:cNvSpPr/>
          <p:nvPr/>
        </p:nvSpPr>
        <p:spPr>
          <a:xfrm>
            <a:off x="2070000" y="2556000"/>
            <a:ext cx="27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4" name=""/>
          <p:cNvSpPr/>
          <p:nvPr/>
        </p:nvSpPr>
        <p:spPr>
          <a:xfrm>
            <a:off x="2376000" y="1638000"/>
            <a:ext cx="1512000" cy="187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808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484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Implement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502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Reference cipher in Python with a round trace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8" name=""/>
          <p:cNvSpPr/>
          <p:nvPr/>
        </p:nvSpPr>
        <p:spPr>
          <a:xfrm>
            <a:off x="3906000" y="2556000"/>
            <a:ext cx="27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9" name=""/>
          <p:cNvSpPr/>
          <p:nvPr/>
        </p:nvSpPr>
        <p:spPr>
          <a:xfrm>
            <a:off x="4212000" y="1638000"/>
            <a:ext cx="1512000" cy="1872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644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320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Verify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338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Known-answer, boundary and exhaustive round-trip tests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3" name=""/>
          <p:cNvSpPr/>
          <p:nvPr/>
        </p:nvSpPr>
        <p:spPr>
          <a:xfrm>
            <a:off x="5742000" y="2556000"/>
            <a:ext cx="27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4" name=""/>
          <p:cNvSpPr/>
          <p:nvPr/>
        </p:nvSpPr>
        <p:spPr>
          <a:xfrm>
            <a:off x="6048000" y="1638000"/>
            <a:ext cx="1512000" cy="187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80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156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Simulate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174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Meter readings, quantization and packet transmission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8" name=""/>
          <p:cNvSpPr/>
          <p:nvPr/>
        </p:nvSpPr>
        <p:spPr>
          <a:xfrm>
            <a:off x="7578000" y="2556000"/>
            <a:ext cx="27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9" name=""/>
          <p:cNvSpPr/>
          <p:nvPr/>
        </p:nvSpPr>
        <p:spPr>
          <a:xfrm>
            <a:off x="7884000" y="1638000"/>
            <a:ext cx="1512000" cy="1872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316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992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Evaluate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010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Timing, avalanche, key sensitivity and energy estimate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3" name=""/>
          <p:cNvSpPr/>
          <p:nvPr/>
        </p:nvSpPr>
        <p:spPr>
          <a:xfrm>
            <a:off x="9414000" y="2556000"/>
            <a:ext cx="270000" cy="0"/>
          </a:xfrm>
          <a:prstGeom prst="line">
            <a:avLst/>
          </a:prstGeom>
          <a:ln w="10800">
            <a:solidFill>
              <a:srgbClr val="2E7D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4" name=""/>
          <p:cNvSpPr/>
          <p:nvPr/>
        </p:nvSpPr>
        <p:spPr>
          <a:xfrm>
            <a:off x="9720000" y="1638000"/>
            <a:ext cx="1512000" cy="187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152000" y="1764000"/>
            <a:ext cx="648000" cy="25920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36000" tIns="36000" rIns="36000" bIns="36000" anchor="b">
            <a:spAutoFit/>
          </a:bodyPr>
          <a:p>
            <a:pPr algn="r"/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9828000" y="2196000"/>
            <a:ext cx="1296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Present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9846000" y="2556000"/>
            <a:ext cx="1260000" cy="68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r"/>
            <a:r>
              <a:rPr lang="en-US" sz="10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FastAPI dashboard, charts and final comparison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8" name=""/>
          <p:cNvSpPr/>
          <p:nvPr/>
        </p:nvSpPr>
        <p:spPr>
          <a:xfrm>
            <a:off x="540000" y="4068000"/>
            <a:ext cx="7128000" cy="1188000"/>
          </a:xfrm>
          <a:prstGeom prst="roundRect">
            <a:avLst/>
          </a:prstGeom>
          <a:solidFill>
            <a:srgbClr val="E8F2F0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9" name=""/>
          <p:cNvSpPr/>
          <p:nvPr/>
        </p:nvSpPr>
        <p:spPr>
          <a:xfrm>
            <a:off x="540000" y="4068000"/>
            <a:ext cx="64800" cy="118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20000" y="4176000"/>
            <a:ext cx="6822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Experimental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20000" y="4446000"/>
            <a:ext cx="6822000" cy="73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5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Use the same input sets for every round count; time only the cipher call; repeat runs; store raw results; report mean and variation; keep estimated and measured energy separate.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2" name=""/>
          <p:cNvSpPr/>
          <p:nvPr/>
        </p:nvSpPr>
        <p:spPr>
          <a:xfrm>
            <a:off x="7992000" y="4068000"/>
            <a:ext cx="3636000" cy="1188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3" name=""/>
          <p:cNvSpPr/>
          <p:nvPr/>
        </p:nvSpPr>
        <p:spPr>
          <a:xfrm>
            <a:off x="7992000" y="4068000"/>
            <a:ext cx="64800" cy="1188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172000" y="4176000"/>
            <a:ext cx="3330000" cy="27936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4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Success criteria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8172000" y="4446000"/>
            <a:ext cx="3330000" cy="73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3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Correct recovery for all 256 plaintext blocks; reproducible benchmarks; avalanche results shown by round count; working end-to-end demonstration.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ALGORITHMS AND TECHNIQUES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Why These Techniques Are Relevant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9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40000" y="1458000"/>
            <a:ext cx="10980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The design separates the experimental cipher from the controls needed by a communication system.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40000" y="1872000"/>
            <a:ext cx="2880000" cy="23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50" b="1" u="none" strike="noStrike">
                <a:solidFill>
                  <a:srgbClr val="2E7D78"/>
                </a:solidFill>
                <a:effectLst/>
                <a:uFillTx/>
                <a:latin typeface="Nimbus Sans"/>
              </a:rPr>
              <a:t>CORE CIPHER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3" name=""/>
          <p:cNvSpPr/>
          <p:nvPr/>
        </p:nvSpPr>
        <p:spPr>
          <a:xfrm>
            <a:off x="540000" y="2160000"/>
            <a:ext cx="6732000" cy="73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4" name=""/>
          <p:cNvSpPr/>
          <p:nvPr/>
        </p:nvSpPr>
        <p:spPr>
          <a:xfrm>
            <a:off x="540000" y="2160000"/>
            <a:ext cx="64800" cy="73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20000" y="2268000"/>
            <a:ext cx="6426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Feistel network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20000" y="2538000"/>
            <a:ext cx="6426000" cy="28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Provides reversible encryption while allowing a simple custom round function.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7" name=""/>
          <p:cNvSpPr/>
          <p:nvPr/>
        </p:nvSpPr>
        <p:spPr>
          <a:xfrm>
            <a:off x="540000" y="3060000"/>
            <a:ext cx="6732000" cy="73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8" name=""/>
          <p:cNvSpPr/>
          <p:nvPr/>
        </p:nvSpPr>
        <p:spPr>
          <a:xfrm>
            <a:off x="540000" y="3060000"/>
            <a:ext cx="64800" cy="73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20000" y="3168000"/>
            <a:ext cx="6426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S-box substitution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20000" y="3438000"/>
            <a:ext cx="6426000" cy="28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Introduces non-linearity so output changes are not a direct linear mapping of the input.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1" name=""/>
          <p:cNvSpPr/>
          <p:nvPr/>
        </p:nvSpPr>
        <p:spPr>
          <a:xfrm>
            <a:off x="540000" y="3960000"/>
            <a:ext cx="6732000" cy="73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2" name=""/>
          <p:cNvSpPr/>
          <p:nvPr/>
        </p:nvSpPr>
        <p:spPr>
          <a:xfrm>
            <a:off x="540000" y="3960000"/>
            <a:ext cx="64800" cy="73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20000" y="4068000"/>
            <a:ext cx="6426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Bit permutation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20000" y="4338000"/>
            <a:ext cx="6426000" cy="28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Moves S-box output bits to improve diffusion across later rounds.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5" name=""/>
          <p:cNvSpPr/>
          <p:nvPr/>
        </p:nvSpPr>
        <p:spPr>
          <a:xfrm>
            <a:off x="540000" y="4860000"/>
            <a:ext cx="6732000" cy="73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6" name=""/>
          <p:cNvSpPr/>
          <p:nvPr/>
        </p:nvSpPr>
        <p:spPr>
          <a:xfrm>
            <a:off x="540000" y="4860000"/>
            <a:ext cx="64800" cy="738000"/>
          </a:xfrm>
          <a:prstGeom prst="rect">
            <a:avLst/>
          </a:prstGeom>
          <a:solidFill>
            <a:srgbClr val="2E7D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20000" y="4968000"/>
            <a:ext cx="6426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Rotating key schedule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20000" y="5238000"/>
            <a:ext cx="6426000" cy="288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Derives a different 4-bit subkey for each round with low implementation cost.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812000" y="1872000"/>
            <a:ext cx="3420000" cy="23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SUPPORTING CONTROLS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0" name=""/>
          <p:cNvSpPr/>
          <p:nvPr/>
        </p:nvSpPr>
        <p:spPr>
          <a:xfrm>
            <a:off x="7812000" y="2160000"/>
            <a:ext cx="3816000" cy="972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1" name=""/>
          <p:cNvSpPr/>
          <p:nvPr/>
        </p:nvSpPr>
        <p:spPr>
          <a:xfrm>
            <a:off x="7812000" y="2160000"/>
            <a:ext cx="64800" cy="972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992000" y="2268000"/>
            <a:ext cx="3510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Nonce / IV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992000" y="2538000"/>
            <a:ext cx="3510000" cy="52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Reduces visible repetition when similar readings are encrypted.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4" name=""/>
          <p:cNvSpPr/>
          <p:nvPr/>
        </p:nvSpPr>
        <p:spPr>
          <a:xfrm>
            <a:off x="7812000" y="3330000"/>
            <a:ext cx="3816000" cy="972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5" name=""/>
          <p:cNvSpPr/>
          <p:nvPr/>
        </p:nvSpPr>
        <p:spPr>
          <a:xfrm>
            <a:off x="7812000" y="3330000"/>
            <a:ext cx="64800" cy="972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992000" y="3438000"/>
            <a:ext cx="3510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Sequence number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992000" y="3708000"/>
            <a:ext cx="3510000" cy="52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Allows the gateway to identify stale or replayed reports.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8" name=""/>
          <p:cNvSpPr/>
          <p:nvPr/>
        </p:nvSpPr>
        <p:spPr>
          <a:xfrm>
            <a:off x="7812000" y="4500000"/>
            <a:ext cx="3816000" cy="972000"/>
          </a:xfrm>
          <a:prstGeom prst="roundRect">
            <a:avLst/>
          </a:prstGeom>
          <a:solidFill>
            <a:srgbClr val="F5EDE6"/>
          </a:solidFill>
          <a:ln w="7200">
            <a:solidFill>
              <a:srgbClr val="B9C5CC"/>
            </a:solidFill>
            <a:round/>
          </a:ln>
        </p:spPr>
        <p:txBody>
          <a:bodyPr lIns="93600" tIns="48600" rIns="93600" bIns="48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9" name=""/>
          <p:cNvSpPr/>
          <p:nvPr/>
        </p:nvSpPr>
        <p:spPr>
          <a:xfrm>
            <a:off x="7812000" y="4500000"/>
            <a:ext cx="64800" cy="972000"/>
          </a:xfrm>
          <a:prstGeom prst="rect">
            <a:avLst/>
          </a:prstGeom>
          <a:solidFill>
            <a:srgbClr val="C57A4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992000" y="4608000"/>
            <a:ext cx="3510000" cy="26568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3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Integrity tag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992000" y="4878000"/>
            <a:ext cx="3510000" cy="52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8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Detects packet modification; it remains separate from encryption.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812000" y="5724000"/>
            <a:ext cx="3816000" cy="461880"/>
          </a:xfrm>
          <a:prstGeom prst="rect">
            <a:avLst/>
          </a:prstGeom>
          <a:solidFill>
            <a:srgbClr val="EAF0F3"/>
          </a:solidFill>
          <a:ln w="0">
            <a:solidFill>
              <a:srgbClr val="EAF0F3"/>
            </a:solidFill>
          </a:ln>
        </p:spPr>
        <p:txBody>
          <a:bodyPr lIns="93600" tIns="93600" rIns="93600" bIns="93600" anchor="t">
            <a:spAutoFit/>
          </a:bodyPr>
          <a:p>
            <a:r>
              <a:rPr lang="en-US" sz="108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Encryption provides confidentiality; it does not provide integrity or replay protection by itself.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 txBox="1"/>
          <p:nvPr/>
        </p:nvSpPr>
        <p:spPr>
          <a:xfrm>
            <a:off x="540000" y="306000"/>
            <a:ext cx="4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10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008000" y="306000"/>
            <a:ext cx="3780000" cy="252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00" b="1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ALGORITHMS AND TECHNIQUES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40000" y="630000"/>
            <a:ext cx="106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26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Link Between Design Choices and Evaluation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6" name=""/>
          <p:cNvSpPr/>
          <p:nvPr/>
        </p:nvSpPr>
        <p:spPr>
          <a:xfrm>
            <a:off x="540000" y="1242000"/>
            <a:ext cx="11088000" cy="0"/>
          </a:xfrm>
          <a:prstGeom prst="line">
            <a:avLst/>
          </a:prstGeom>
          <a:ln w="10800">
            <a:solidFill>
              <a:srgbClr val="B9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-50400" rIns="95400" bIns="-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1052000" y="6408000"/>
            <a:ext cx="432000" cy="21564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pPr algn="just"/>
            <a:r>
              <a:rPr lang="en-US" sz="900" b="0" u="none" strike="noStrike">
                <a:solidFill>
                  <a:srgbClr val="5B6973"/>
                </a:solidFill>
                <a:effectLst/>
                <a:uFillTx/>
                <a:latin typeface="Nimbus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40000" y="1512000"/>
            <a:ext cx="3024000" cy="612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Design choice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564000" y="1512000"/>
            <a:ext cx="4356000" cy="612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Reason for inclusion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920000" y="1512000"/>
            <a:ext cx="3708000" cy="612000"/>
          </a:xfrm>
          <a:prstGeom prst="rect">
            <a:avLst/>
          </a:prstGeom>
          <a:solidFill>
            <a:srgbClr val="183B56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Nimbus Sans"/>
              </a:rPr>
              <a:t>How it is evaluated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40000" y="2214000"/>
            <a:ext cx="3024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8-bit block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564000" y="2214000"/>
            <a:ext cx="4356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Matches a quantized sample and keeps internals visible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920000" y="2214000"/>
            <a:ext cx="3708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Exhaustive input tests; repetition demo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0000" y="2916000"/>
            <a:ext cx="3024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4 / 6 / 8 rounds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564000" y="2916000"/>
            <a:ext cx="4356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Creates a clear cost-versus-diffusion variable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920000" y="2916000"/>
            <a:ext cx="3708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Timing, energy estimate and avalanche score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40000" y="3618000"/>
            <a:ext cx="3024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4-bit S-box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564000" y="3618000"/>
            <a:ext cx="4356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Adds non-linearity with a small lookup table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920000" y="3618000"/>
            <a:ext cx="3708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Input/output difference heatmap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40000" y="4320000"/>
            <a:ext cx="3024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Permutation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564000" y="4320000"/>
            <a:ext cx="4356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Spreads changed bits into later rounds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920000" y="4320000"/>
            <a:ext cx="3708000" cy="612000"/>
          </a:xfrm>
          <a:prstGeom prst="rect">
            <a:avLst/>
          </a:prstGeom>
          <a:solidFill>
            <a:srgbClr val="FFFFFF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Per-round output-bit sensitivity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40000" y="5022000"/>
            <a:ext cx="3024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1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16-bit baseline key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564000" y="5022000"/>
            <a:ext cx="4356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Simple schedule for the experiment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920000" y="5022000"/>
            <a:ext cx="3708000" cy="612000"/>
          </a:xfrm>
          <a:prstGeom prst="rect">
            <a:avLst/>
          </a:prstGeom>
          <a:solidFill>
            <a:srgbClr val="E8F2F0"/>
          </a:solidFill>
          <a:ln w="0">
            <a:solidFill>
              <a:srgbClr val="B9C5CC"/>
            </a:solidFill>
          </a:ln>
        </p:spPr>
        <p:txBody>
          <a:bodyPr lIns="79200" tIns="79200" rIns="79200" bIns="79200" anchor="b">
            <a:spAutoFit/>
          </a:bodyPr>
          <a:p>
            <a:r>
              <a:rPr lang="en-US" sz="1060" b="0" u="none" strike="noStrike">
                <a:solidFill>
                  <a:srgbClr val="26323B"/>
                </a:solidFill>
                <a:effectLst/>
                <a:uFillTx/>
                <a:latin typeface="Nimbus Sans"/>
              </a:rPr>
              <a:t>Key-flip sensitivity and brute-force limitation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40000" y="5940000"/>
            <a:ext cx="1548000" cy="234000"/>
          </a:xfrm>
          <a:prstGeom prst="rect">
            <a:avLst/>
          </a:prstGeom>
          <a:noFill/>
          <a:ln w="0">
            <a:noFill/>
          </a:ln>
        </p:spPr>
        <p:txBody>
          <a:bodyPr lIns="50400" tIns="50400" rIns="50400" bIns="50400" anchor="t">
            <a:spAutoFit/>
          </a:bodyPr>
          <a:p>
            <a:r>
              <a:rPr lang="en-US" sz="1050" b="1" u="none" strike="noStrike">
                <a:solidFill>
                  <a:srgbClr val="C57A44"/>
                </a:solidFill>
                <a:effectLst/>
                <a:uFillTx/>
                <a:latin typeface="Nimbus Sans"/>
              </a:rPr>
              <a:t>Expected conclusion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052000" y="5814000"/>
            <a:ext cx="9576000" cy="506520"/>
          </a:xfrm>
          <a:prstGeom prst="rect">
            <a:avLst/>
          </a:prstGeom>
          <a:solidFill>
            <a:srgbClr val="F5EDE6"/>
          </a:solidFill>
          <a:ln w="0">
            <a:solidFill>
              <a:srgbClr val="F5EDE6"/>
            </a:solidFill>
          </a:ln>
        </p:spPr>
        <p:txBody>
          <a:bodyPr lIns="100800" tIns="100800" rIns="100800" bIns="100800" anchor="t">
            <a:spAutoFit/>
          </a:bodyPr>
          <a:p>
            <a:r>
              <a:rPr lang="en-US" sz="1200" b="1" u="none" strike="noStrike">
                <a:solidFill>
                  <a:srgbClr val="183B56"/>
                </a:solidFill>
                <a:effectLst/>
                <a:uFillTx/>
                <a:latin typeface="Nimbus Sans"/>
              </a:rPr>
              <a:t>More rounds should improve diffusion but increase processing cost. The value of the project is the measured trade-off—not a claim that the custom cipher is production-ready.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2026-10-08T19:42:05Z</dcterms:created>
  <dc:creator/>
  <dc:description/>
  <dc:language>en-US</dc:language>
  <cp:lastModifiedBy/>
  <dcterms:modified xsi:type="dcterms:W3CDTF">2026-10-08T19:42:06Z</dcterms:modified>
  <cp:revision>1</cp:revision>
  <dc:subject/>
  <dc:title/>
</cp:coreProperties>
</file>